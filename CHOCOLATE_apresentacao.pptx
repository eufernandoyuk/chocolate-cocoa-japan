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4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uefIbJoT70lelSHAUu3YIqzQr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241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B2412"/>
                </a:solidFill>
                <a:latin typeface="Arial"/>
              </a:rPr>
              <a:t>Exportações do Brasil (US$ milhões, 2022)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Exportações do Brasil 2022 (US$ milhões)</c:v>
                </c:pt>
              </c:strCache>
            </c:strRef>
          </c:tx>
          <c:spPr>
            <a:solidFill>
              <a:srgbClr val="C69B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B24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9B4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F451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Cacau (bruto/semiprocessado)</c:v>
                  </c:pt>
                  <c:pt idx="1">
                    <c:v>Chocolate (produto final)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228</c:v>
                </c:pt>
                <c:pt idx="1">
                  <c:v>142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3B24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4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0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4A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241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B2412"/>
                </a:solidFill>
                <a:latin typeface="Arial"/>
              </a:rPr>
              <a:t>Tamanho do mercado mundial (US$ bilhões)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Mercado mundial (US$ bilhões)</c:v>
                </c:pt>
              </c:strCache>
            </c:strRef>
          </c:tx>
          <c:spPr>
            <a:solidFill>
              <a:srgbClr val="C69B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B24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9B4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F451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Cacau</c:v>
                  </c:pt>
                  <c:pt idx="1">
                    <c:v>Chocolate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23.1</c:v>
                </c:pt>
                <c:pt idx="1">
                  <c:v>33.3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3B24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4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0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4A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241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B2412"/>
                </a:solidFill>
                <a:latin typeface="Arial"/>
              </a:rPr>
              <a:t>Destinos das exportações de cacau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Cacau</c:v>
                </c:pt>
              </c:strCache>
            </c:strRef>
          </c:tx>
          <c:spPr>
            <a:solidFill>
              <a:srgbClr val="C69B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B24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Argentina</c:v>
                  </c:pt>
                  <c:pt idx="1">
                    <c:v>Chile</c:v>
                  </c:pt>
                  <c:pt idx="2">
                    <c:v>Estados Unidos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</c:v>
                </c:pt>
                <c:pt idx="1">
                  <c:v>23</c:v>
                </c:pt>
                <c:pt idx="2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3B24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8E0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4A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241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B2412"/>
                </a:solidFill>
                <a:latin typeface="Arial"/>
              </a:rPr>
              <a:t>Destinos das exportações de chocolate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Chocolate</c:v>
                </c:pt>
              </c:strCache>
            </c:strRef>
          </c:tx>
          <c:spPr>
            <a:solidFill>
              <a:srgbClr val="6F451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B24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Argentina</c:v>
                  </c:pt>
                  <c:pt idx="1">
                    <c:v>Chile</c:v>
                  </c:pt>
                  <c:pt idx="2">
                    <c:v>Paraguai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</c:v>
                </c:pt>
                <c:pt idx="1">
                  <c:v>11</c:v>
                </c:pt>
                <c:pt idx="2">
                  <c:v>10.7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3B24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8E0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4A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241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B24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6F4518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2286000" y="4206240"/>
            <a:ext cx="5486400" cy="5486400"/>
          </a:xfrm>
          <a:prstGeom prst="ellipse">
            <a:avLst/>
          </a:prstGeom>
          <a:solidFill>
            <a:srgbClr val="C69B4E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22960" y="15087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B4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69B4E"/>
                </a:solidFill>
                <a:latin typeface="Calibri"/>
                <a:ea typeface="Calibri"/>
                <a:cs typeface="Calibri"/>
                <a:sym typeface="Calibri"/>
              </a:rPr>
              <a:t>TRABALHO — INTRODUÇÃO À ECONOMIA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77240" y="196596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mbria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Chocolate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324612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ECDD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4ECDD"/>
                </a:solidFill>
                <a:latin typeface="Calibri"/>
                <a:ea typeface="Calibri"/>
                <a:cs typeface="Calibri"/>
                <a:sym typeface="Calibri"/>
              </a:rPr>
              <a:t>Agregação de Valor na Cadeia do Cacau e a Oportunidade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ECDD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4ECDD"/>
                </a:solidFill>
                <a:latin typeface="Calibri"/>
                <a:ea typeface="Calibri"/>
                <a:cs typeface="Calibri"/>
                <a:sym typeface="Calibri"/>
              </a:rPr>
              <a:t>do Mercado Japonês para o Brasil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1"/>
          <p:cNvCxnSpPr/>
          <p:nvPr/>
        </p:nvCxnSpPr>
        <p:spPr>
          <a:xfrm>
            <a:off x="822960" y="4617720"/>
            <a:ext cx="2926080" cy="0"/>
          </a:xfrm>
          <a:prstGeom prst="straightConnector1">
            <a:avLst/>
          </a:prstGeom>
          <a:noFill/>
          <a:ln cap="flat" cmpd="sng" w="25400">
            <a:solidFill>
              <a:srgbClr val="C69B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"/>
          <p:cNvSpPr/>
          <p:nvPr/>
        </p:nvSpPr>
        <p:spPr>
          <a:xfrm>
            <a:off x="822960" y="4846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B4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69B4E"/>
                </a:solidFill>
                <a:latin typeface="Calibri"/>
                <a:ea typeface="Calibri"/>
                <a:cs typeface="Calibri"/>
                <a:sym typeface="Calibri"/>
              </a:rPr>
              <a:t>Autor(a): </a:t>
            </a: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Fernando Yukio Chikuji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22960" y="52120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B4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69B4E"/>
                </a:solidFill>
                <a:latin typeface="Calibri"/>
                <a:ea typeface="Calibri"/>
                <a:cs typeface="Calibri"/>
                <a:sym typeface="Calibri"/>
              </a:rPr>
              <a:t>Professor(a):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José Henrique Bassi Souza Sperancini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22960" y="6035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9A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B49A80"/>
                </a:solidFill>
                <a:latin typeface="Calibri"/>
                <a:ea typeface="Calibri"/>
                <a:cs typeface="Calibri"/>
                <a:sym typeface="Calibri"/>
              </a:rPr>
              <a:t>UFABC</a:t>
            </a:r>
            <a:r>
              <a:rPr b="0" i="0" lang="en-US" sz="1200" u="none" cap="none" strike="noStrike">
                <a:solidFill>
                  <a:srgbClr val="B49A80"/>
                </a:solidFill>
                <a:latin typeface="Calibri"/>
                <a:ea typeface="Calibri"/>
                <a:cs typeface="Calibri"/>
                <a:sym typeface="Calibri"/>
              </a:rPr>
              <a:t>  •  2023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B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69B4E"/>
                </a:solidFill>
                <a:latin typeface="Calibri"/>
                <a:ea typeface="Calibri"/>
                <a:cs typeface="Calibri"/>
                <a:sym typeface="Calibri"/>
              </a:rPr>
              <a:t>SUMÁRIO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B2412"/>
                </a:solidFill>
                <a:latin typeface="Cambria"/>
                <a:ea typeface="Cambria"/>
                <a:cs typeface="Cambria"/>
                <a:sym typeface="Cambria"/>
              </a:rPr>
              <a:t>O que vamos ver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1783080"/>
            <a:ext cx="822960" cy="676656"/>
          </a:xfrm>
          <a:prstGeom prst="rect">
            <a:avLst/>
          </a:prstGeom>
          <a:solidFill>
            <a:srgbClr val="F4EC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48640" y="1783080"/>
            <a:ext cx="8229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451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6F4518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600200" y="175564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3B2412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600200" y="207568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A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4A3A"/>
                </a:solidFill>
                <a:latin typeface="Calibri"/>
                <a:ea typeface="Calibri"/>
                <a:cs typeface="Calibri"/>
                <a:sym typeface="Calibri"/>
              </a:rPr>
              <a:t>Motivação e objetivos do trabalho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8640" y="2624328"/>
            <a:ext cx="822960" cy="676656"/>
          </a:xfrm>
          <a:prstGeom prst="rect">
            <a:avLst/>
          </a:prstGeom>
          <a:solidFill>
            <a:srgbClr val="F4EC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48640" y="2624328"/>
            <a:ext cx="8229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451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6F4518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600200" y="2596896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3B2412"/>
                </a:solidFill>
                <a:latin typeface="Calibri"/>
                <a:ea typeface="Calibri"/>
                <a:cs typeface="Calibri"/>
                <a:sym typeface="Calibri"/>
              </a:rPr>
              <a:t>O Brasil na cadeia do cacau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600200" y="291693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A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4A3A"/>
                </a:solidFill>
                <a:latin typeface="Calibri"/>
                <a:ea typeface="Calibri"/>
                <a:cs typeface="Calibri"/>
                <a:sym typeface="Calibri"/>
              </a:rPr>
              <a:t>Produção, exportações e posição mundial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48640" y="3465576"/>
            <a:ext cx="822960" cy="676656"/>
          </a:xfrm>
          <a:prstGeom prst="rect">
            <a:avLst/>
          </a:prstGeom>
          <a:solidFill>
            <a:srgbClr val="F4EC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548640" y="3465576"/>
            <a:ext cx="8229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451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6F4518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600200" y="3438144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3B2412"/>
                </a:solidFill>
                <a:latin typeface="Calibri"/>
                <a:ea typeface="Calibri"/>
                <a:cs typeface="Calibri"/>
                <a:sym typeface="Calibri"/>
              </a:rPr>
              <a:t>Cacau x Chocolate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600200" y="3758184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A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4A3A"/>
                </a:solidFill>
                <a:latin typeface="Calibri"/>
                <a:ea typeface="Calibri"/>
                <a:cs typeface="Calibri"/>
                <a:sym typeface="Calibri"/>
              </a:rPr>
              <a:t>Onde está o valor agregado?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48640" y="4306824"/>
            <a:ext cx="822960" cy="676656"/>
          </a:xfrm>
          <a:prstGeom prst="rect">
            <a:avLst/>
          </a:prstGeom>
          <a:solidFill>
            <a:srgbClr val="F4EC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48640" y="4306824"/>
            <a:ext cx="8229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451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6F4518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600200" y="427939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3B2412"/>
                </a:solidFill>
                <a:latin typeface="Calibri"/>
                <a:ea typeface="Calibri"/>
                <a:cs typeface="Calibri"/>
                <a:sym typeface="Calibri"/>
              </a:rPr>
              <a:t>O mercado japonês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600200" y="4599432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A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4A3A"/>
                </a:solidFill>
                <a:latin typeface="Calibri"/>
                <a:ea typeface="Calibri"/>
                <a:cs typeface="Calibri"/>
                <a:sym typeface="Calibri"/>
              </a:rPr>
              <a:t>Tamanho, participação brasileira e a isenção de vistos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48640" y="5148072"/>
            <a:ext cx="822960" cy="676656"/>
          </a:xfrm>
          <a:prstGeom prst="rect">
            <a:avLst/>
          </a:prstGeom>
          <a:solidFill>
            <a:srgbClr val="F4EC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548640" y="5148072"/>
            <a:ext cx="8229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451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6F4518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600200" y="51206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3B2412"/>
                </a:solidFill>
                <a:latin typeface="Calibri"/>
                <a:ea typeface="Calibri"/>
                <a:cs typeface="Calibri"/>
                <a:sym typeface="Calibri"/>
              </a:rPr>
              <a:t>Oportunidades e desafios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600200" y="544068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A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4A3A"/>
                </a:solidFill>
                <a:latin typeface="Calibri"/>
                <a:ea typeface="Calibri"/>
                <a:cs typeface="Calibri"/>
                <a:sym typeface="Calibri"/>
              </a:rPr>
              <a:t>O que pode levar o chocolate brasileiro ao Japão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8A78"/>
                </a:solidFill>
                <a:latin typeface="Calibri"/>
                <a:ea typeface="Calibri"/>
                <a:cs typeface="Calibri"/>
                <a:sym typeface="Calibri"/>
              </a:rPr>
              <a:t>2 / 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8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8A78"/>
                </a:solidFill>
                <a:latin typeface="Calibri"/>
                <a:ea typeface="Calibri"/>
                <a:cs typeface="Calibri"/>
                <a:sym typeface="Calibri"/>
              </a:rPr>
              <a:t>Chocolate: Cadeia do Cacau e Mercado Japonês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B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69B4E"/>
                </a:solidFill>
                <a:latin typeface="Calibri"/>
                <a:ea typeface="Calibri"/>
                <a:cs typeface="Calibri"/>
                <a:sym typeface="Calibri"/>
              </a:rPr>
              <a:t>01 · INTRODUÇÃO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B2412"/>
                </a:solidFill>
                <a:latin typeface="Cambria"/>
                <a:ea typeface="Cambria"/>
                <a:cs typeface="Cambria"/>
                <a:sym typeface="Cambria"/>
              </a:rPr>
              <a:t>Por que estudar o chocolate?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48640" y="1965960"/>
            <a:ext cx="2615184" cy="3291840"/>
          </a:xfrm>
          <a:prstGeom prst="roundRect">
            <a:avLst>
              <a:gd fmla="val 2797" name="adj"/>
            </a:avLst>
          </a:prstGeom>
          <a:solidFill>
            <a:srgbClr val="6F4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804672" y="2258568"/>
            <a:ext cx="502920" cy="502920"/>
          </a:xfrm>
          <a:prstGeom prst="ellipse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804672" y="22585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4518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6F451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804672" y="292608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Alto valor agregado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804672" y="3703320"/>
            <a:ext cx="21031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CD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4ECDD"/>
                </a:solidFill>
                <a:latin typeface="Calibri"/>
                <a:ea typeface="Calibri"/>
                <a:cs typeface="Calibri"/>
                <a:sym typeface="Calibri"/>
              </a:rPr>
              <a:t>Produto industrializado com margens superiores às da matéria-prima agrícola.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392424" y="1965960"/>
            <a:ext cx="2615184" cy="3291840"/>
          </a:xfrm>
          <a:prstGeom prst="roundRect">
            <a:avLst>
              <a:gd fmla="val 2797" name="adj"/>
            </a:avLst>
          </a:prstGeom>
          <a:solidFill>
            <a:srgbClr val="C69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3648456" y="2258568"/>
            <a:ext cx="502920" cy="502920"/>
          </a:xfrm>
          <a:prstGeom prst="ellipse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3648456" y="22585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B2412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648456" y="292608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Espaço para todos os portes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648456" y="3703320"/>
            <a:ext cx="21031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B2412"/>
                </a:solidFill>
                <a:latin typeface="Calibri"/>
                <a:ea typeface="Calibri"/>
                <a:cs typeface="Calibri"/>
                <a:sym typeface="Calibri"/>
              </a:rPr>
              <a:t>Cadeia produtiva acomoda grandes, médios e pequenos produtores.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236208" y="1965960"/>
            <a:ext cx="2615184" cy="3291840"/>
          </a:xfrm>
          <a:prstGeom prst="roundRect">
            <a:avLst>
              <a:gd fmla="val 2797" name="adj"/>
            </a:avLst>
          </a:prstGeom>
          <a:solidFill>
            <a:srgbClr val="6F4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6492240" y="2258568"/>
            <a:ext cx="502920" cy="502920"/>
          </a:xfrm>
          <a:prstGeom prst="ellipse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492240" y="22585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4518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6F451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492240" y="292608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Geração de empregos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492240" y="3703320"/>
            <a:ext cx="21031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CD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4ECDD"/>
                </a:solidFill>
                <a:latin typeface="Calibri"/>
                <a:ea typeface="Calibri"/>
                <a:cs typeface="Calibri"/>
                <a:sym typeface="Calibri"/>
              </a:rPr>
              <a:t>Empregos diretos e indiretos do cultivo à distribuição do produto final.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9079992" y="1965960"/>
            <a:ext cx="2615184" cy="3291840"/>
          </a:xfrm>
          <a:prstGeom prst="roundRect">
            <a:avLst>
              <a:gd fmla="val 2797" name="adj"/>
            </a:avLst>
          </a:prstGeom>
          <a:solidFill>
            <a:srgbClr val="C69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9336024" y="2258568"/>
            <a:ext cx="502920" cy="502920"/>
          </a:xfrm>
          <a:prstGeom prst="ellipse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9336024" y="22585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B2412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9336024" y="292608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Isenção de visto Brasil-Japão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9336024" y="3703320"/>
            <a:ext cx="21031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B2412"/>
                </a:solidFill>
                <a:latin typeface="Calibri"/>
                <a:ea typeface="Calibri"/>
                <a:cs typeface="Calibri"/>
                <a:sym typeface="Calibri"/>
              </a:rPr>
              <a:t>Vigente desde set/2023 — reduz custos de mobilidade para negócios.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8A78"/>
                </a:solidFill>
                <a:latin typeface="Calibri"/>
                <a:ea typeface="Calibri"/>
                <a:cs typeface="Calibri"/>
                <a:sym typeface="Calibri"/>
              </a:rPr>
              <a:t>3 / 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8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8A78"/>
                </a:solidFill>
                <a:latin typeface="Calibri"/>
                <a:ea typeface="Calibri"/>
                <a:cs typeface="Calibri"/>
                <a:sym typeface="Calibri"/>
              </a:rPr>
              <a:t>Chocolate: Cadeia do Cacau e Mercado Japonês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B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69B4E"/>
                </a:solidFill>
                <a:latin typeface="Calibri"/>
                <a:ea typeface="Calibri"/>
                <a:cs typeface="Calibri"/>
                <a:sym typeface="Calibri"/>
              </a:rPr>
              <a:t>02 · O BRASIL NA CADEIA DO CACAU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B2412"/>
                </a:solidFill>
                <a:latin typeface="Cambria"/>
                <a:ea typeface="Cambria"/>
                <a:cs typeface="Cambria"/>
                <a:sym typeface="Cambria"/>
              </a:rPr>
              <a:t>O Brasil no cenário mundial do cacau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40080" y="1920240"/>
            <a:ext cx="3383280" cy="2377440"/>
          </a:xfrm>
          <a:prstGeom prst="roundRect">
            <a:avLst>
              <a:gd fmla="val 3077" name="adj"/>
            </a:avLst>
          </a:prstGeom>
          <a:solidFill>
            <a:srgbClr val="F4EC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640080" y="214884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4518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6F4518"/>
                </a:solidFill>
                <a:latin typeface="Cambria"/>
                <a:ea typeface="Cambria"/>
                <a:cs typeface="Cambria"/>
                <a:sym typeface="Cambria"/>
              </a:rPr>
              <a:t>7º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914400" y="333756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B2412"/>
                </a:solidFill>
                <a:latin typeface="Calibri"/>
                <a:ea typeface="Calibri"/>
                <a:cs typeface="Calibri"/>
                <a:sym typeface="Calibri"/>
              </a:rPr>
              <a:t>maior produtor mundial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B2412"/>
                </a:solidFill>
                <a:latin typeface="Calibri"/>
                <a:ea typeface="Calibri"/>
                <a:cs typeface="Calibri"/>
                <a:sym typeface="Calibri"/>
              </a:rPr>
              <a:t>de cacau e derivados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389120" y="1920240"/>
            <a:ext cx="3383280" cy="2377440"/>
          </a:xfrm>
          <a:prstGeom prst="roundRect">
            <a:avLst>
              <a:gd fmla="val 3077" name="adj"/>
            </a:avLst>
          </a:prstGeom>
          <a:solidFill>
            <a:srgbClr val="F4EC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389120" y="214884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4518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6F4518"/>
                </a:solidFill>
                <a:latin typeface="Cambria"/>
                <a:ea typeface="Cambria"/>
                <a:cs typeface="Cambria"/>
                <a:sym typeface="Cambria"/>
              </a:rPr>
              <a:t>7º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663440" y="333756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B2412"/>
                </a:solidFill>
                <a:latin typeface="Calibri"/>
                <a:ea typeface="Calibri"/>
                <a:cs typeface="Calibri"/>
                <a:sym typeface="Calibri"/>
              </a:rPr>
              <a:t>maior exportador,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B2412"/>
                </a:solidFill>
                <a:latin typeface="Calibri"/>
                <a:ea typeface="Calibri"/>
                <a:cs typeface="Calibri"/>
                <a:sym typeface="Calibri"/>
              </a:rPr>
              <a:t>para +135 países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8138160" y="1920240"/>
            <a:ext cx="3383280" cy="2377440"/>
          </a:xfrm>
          <a:prstGeom prst="roundRect">
            <a:avLst>
              <a:gd fmla="val 3077" name="adj"/>
            </a:avLst>
          </a:prstGeom>
          <a:solidFill>
            <a:srgbClr val="F4EC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8138160" y="214884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4518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6F4518"/>
                </a:solidFill>
                <a:latin typeface="Cambria"/>
                <a:ea typeface="Cambria"/>
                <a:cs typeface="Cambria"/>
                <a:sym typeface="Cambria"/>
              </a:rPr>
              <a:t>+12,7%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8412480" y="333756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B2412"/>
                </a:solidFill>
                <a:latin typeface="Calibri"/>
                <a:ea typeface="Calibri"/>
                <a:cs typeface="Calibri"/>
                <a:sym typeface="Calibri"/>
              </a:rPr>
              <a:t>crescimento das exportações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B2412"/>
                </a:solidFill>
                <a:latin typeface="Calibri"/>
                <a:ea typeface="Calibri"/>
                <a:cs typeface="Calibri"/>
                <a:sym typeface="Calibri"/>
              </a:rPr>
              <a:t>entre 2021 e 2022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40080" y="46177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3B2412"/>
                </a:solidFill>
                <a:latin typeface="Calibri"/>
                <a:ea typeface="Calibri"/>
                <a:cs typeface="Calibri"/>
                <a:sym typeface="Calibri"/>
              </a:rPr>
              <a:t>O Brasil é um dos poucos países que detém toda a cadeia do chocolate — da plantação do cacau à produção de barras de alta qualidade.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7A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7A68"/>
                </a:solidFill>
                <a:latin typeface="Calibri"/>
                <a:ea typeface="Calibri"/>
                <a:cs typeface="Calibri"/>
                <a:sym typeface="Calibri"/>
              </a:rPr>
              <a:t>Fonte: ApexBrasil — Agência Brasileira de Promoção de Exportações e Investimentos (2023).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8A78"/>
                </a:solidFill>
                <a:latin typeface="Calibri"/>
                <a:ea typeface="Calibri"/>
                <a:cs typeface="Calibri"/>
                <a:sym typeface="Calibri"/>
              </a:rPr>
              <a:t>4 / 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8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8A78"/>
                </a:solidFill>
                <a:latin typeface="Calibri"/>
                <a:ea typeface="Calibri"/>
                <a:cs typeface="Calibri"/>
                <a:sym typeface="Calibri"/>
              </a:rPr>
              <a:t>Chocolate: Cadeia do Cacau e Mercado Japonês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B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69B4E"/>
                </a:solidFill>
                <a:latin typeface="Calibri"/>
                <a:ea typeface="Calibri"/>
                <a:cs typeface="Calibri"/>
                <a:sym typeface="Calibri"/>
              </a:rPr>
              <a:t>03 · CACAU X CHOCOLATE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B2412"/>
                </a:solidFill>
                <a:latin typeface="Cambria"/>
                <a:ea typeface="Cambria"/>
                <a:cs typeface="Cambria"/>
                <a:sym typeface="Cambria"/>
              </a:rPr>
              <a:t>Exportações do Brasil: cacau x chocolate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1" name="Google Shape;111;p5"/>
          <p:cNvGraphicFramePr/>
          <p:nvPr/>
        </p:nvGraphicFramePr>
        <p:xfrm>
          <a:off x="548640" y="1737360"/>
          <a:ext cx="5486400" cy="429768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112" name="Google Shape;112;p5"/>
          <p:cNvGraphicFramePr/>
          <p:nvPr/>
        </p:nvGraphicFramePr>
        <p:xfrm>
          <a:off x="6172200" y="1737360"/>
          <a:ext cx="5486400" cy="429768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13" name="Google Shape;113;p5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3B2412"/>
                </a:solidFill>
                <a:latin typeface="Calibri"/>
                <a:ea typeface="Calibri"/>
                <a:cs typeface="Calibri"/>
                <a:sym typeface="Calibri"/>
              </a:rPr>
              <a:t>O mercado mundial de chocolate é ~44% maior que o de cacau — o produto industrializado concentra mais valor.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8A78"/>
                </a:solidFill>
                <a:latin typeface="Calibri"/>
                <a:ea typeface="Calibri"/>
                <a:cs typeface="Calibri"/>
                <a:sym typeface="Calibri"/>
              </a:rPr>
              <a:t>5 / 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8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8A78"/>
                </a:solidFill>
                <a:latin typeface="Calibri"/>
                <a:ea typeface="Calibri"/>
                <a:cs typeface="Calibri"/>
                <a:sym typeface="Calibri"/>
              </a:rPr>
              <a:t>Chocolate: Cadeia do Cacau e Mercado Japonês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B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69B4E"/>
                </a:solidFill>
                <a:latin typeface="Calibri"/>
                <a:ea typeface="Calibri"/>
                <a:cs typeface="Calibri"/>
                <a:sym typeface="Calibri"/>
              </a:rPr>
              <a:t>03 · CACAU X CHOCOLATE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B2412"/>
                </a:solidFill>
                <a:latin typeface="Cambria"/>
                <a:ea typeface="Cambria"/>
                <a:cs typeface="Cambria"/>
                <a:sym typeface="Cambria"/>
              </a:rPr>
              <a:t>Para onde o Brasil exporta?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3" name="Google Shape;123;p6"/>
          <p:cNvGraphicFramePr/>
          <p:nvPr/>
        </p:nvGraphicFramePr>
        <p:xfrm>
          <a:off x="548640" y="1737360"/>
          <a:ext cx="5486400" cy="420624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124" name="Google Shape;124;p6"/>
          <p:cNvGraphicFramePr/>
          <p:nvPr/>
        </p:nvGraphicFramePr>
        <p:xfrm>
          <a:off x="6172200" y="1737360"/>
          <a:ext cx="5486400" cy="420624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25" name="Google Shape;125;p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8A78"/>
                </a:solidFill>
                <a:latin typeface="Calibri"/>
                <a:ea typeface="Calibri"/>
                <a:cs typeface="Calibri"/>
                <a:sym typeface="Calibri"/>
              </a:rPr>
              <a:t>6 / 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8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8A78"/>
                </a:solidFill>
                <a:latin typeface="Calibri"/>
                <a:ea typeface="Calibri"/>
                <a:cs typeface="Calibri"/>
                <a:sym typeface="Calibri"/>
              </a:rPr>
              <a:t>Chocolate: Cadeia do Cacau e Mercado Japonês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B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69B4E"/>
                </a:solidFill>
                <a:latin typeface="Calibri"/>
                <a:ea typeface="Calibri"/>
                <a:cs typeface="Calibri"/>
                <a:sym typeface="Calibri"/>
              </a:rPr>
              <a:t>04 · O MERCADO JAPONÊS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B2412"/>
                </a:solidFill>
                <a:latin typeface="Cambria"/>
                <a:ea typeface="Cambria"/>
                <a:cs typeface="Cambria"/>
                <a:sym typeface="Cambria"/>
              </a:rPr>
              <a:t>Um mercado gigante, quase inexplorado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s/chart5_japao_funil.png" id="134" name="Google Shape;13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783080"/>
            <a:ext cx="676656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7635240" y="1783080"/>
            <a:ext cx="3977640" cy="4069080"/>
          </a:xfrm>
          <a:prstGeom prst="roundRect">
            <a:avLst>
              <a:gd fmla="val 1839" name="adj"/>
            </a:avLst>
          </a:prstGeom>
          <a:solidFill>
            <a:srgbClr val="3B24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7635240" y="2148840"/>
            <a:ext cx="3977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9B4E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C69B4E"/>
                </a:solidFill>
                <a:latin typeface="Cambria"/>
                <a:ea typeface="Cambria"/>
                <a:cs typeface="Cambria"/>
                <a:sym typeface="Cambria"/>
              </a:rPr>
              <a:t>0,19%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7909560" y="3108960"/>
            <a:ext cx="3429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 a participação do Brasil nas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importações japonesas de chocolate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7"/>
          <p:cNvCxnSpPr/>
          <p:nvPr/>
        </p:nvCxnSpPr>
        <p:spPr>
          <a:xfrm>
            <a:off x="8092440" y="4114800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C69B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7"/>
          <p:cNvSpPr/>
          <p:nvPr/>
        </p:nvSpPr>
        <p:spPr>
          <a:xfrm>
            <a:off x="7909560" y="4297680"/>
            <a:ext cx="3429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ECD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4ECDD"/>
                </a:solidFill>
                <a:latin typeface="Calibri"/>
                <a:ea typeface="Calibri"/>
                <a:cs typeface="Calibri"/>
                <a:sym typeface="Calibri"/>
              </a:rPr>
              <a:t>US$ 587M importados pelo Japão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ECD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4ECDD"/>
                </a:solidFill>
                <a:latin typeface="Calibri"/>
                <a:ea typeface="Calibri"/>
                <a:cs typeface="Calibri"/>
                <a:sym typeface="Calibri"/>
              </a:rPr>
              <a:t>US$ 46M vêm das Américas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ECD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4ECDD"/>
                </a:solidFill>
                <a:latin typeface="Calibri"/>
                <a:ea typeface="Calibri"/>
                <a:cs typeface="Calibri"/>
                <a:sym typeface="Calibri"/>
              </a:rPr>
              <a:t>US$ 1,11M vêm do Brasil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7A68"/>
                </a:solidFill>
                <a:latin typeface="Calibri"/>
                <a:ea typeface="Calibri"/>
                <a:cs typeface="Calibri"/>
                <a:sym typeface="Calibri"/>
              </a:rPr>
              <a:t>Fonte: The Atlas of Economic Complexity — Growth Lab, Harvard Kennedy School.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8A78"/>
                </a:solidFill>
                <a:latin typeface="Calibri"/>
                <a:ea typeface="Calibri"/>
                <a:cs typeface="Calibri"/>
                <a:sym typeface="Calibri"/>
              </a:rPr>
              <a:t>7 / 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8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8A78"/>
                </a:solidFill>
                <a:latin typeface="Calibri"/>
                <a:ea typeface="Calibri"/>
                <a:cs typeface="Calibri"/>
                <a:sym typeface="Calibri"/>
              </a:rPr>
              <a:t>Chocolate: Cadeia do Cacau e Mercado Japonês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241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B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69B4E"/>
                </a:solidFill>
                <a:latin typeface="Calibri"/>
                <a:ea typeface="Calibri"/>
                <a:cs typeface="Calibri"/>
                <a:sym typeface="Calibri"/>
              </a:rPr>
              <a:t>04 · O MERCADO JAPONÊS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 isenção de vistos Brasil-Japão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40080" y="1965960"/>
            <a:ext cx="3611880" cy="3749040"/>
          </a:xfrm>
          <a:prstGeom prst="roundRect">
            <a:avLst>
              <a:gd fmla="val 2025" name="adj"/>
            </a:avLst>
          </a:prstGeom>
          <a:solidFill>
            <a:srgbClr val="6F4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896112" y="2240280"/>
            <a:ext cx="30998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B4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C69B4E"/>
                </a:solidFill>
                <a:latin typeface="Cambria"/>
                <a:ea typeface="Cambria"/>
                <a:cs typeface="Cambria"/>
                <a:sym typeface="Cambria"/>
              </a:rPr>
              <a:t>Ago/2023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896112" y="2880360"/>
            <a:ext cx="3099816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4ECD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4ECDD"/>
                </a:solidFill>
                <a:latin typeface="Calibri"/>
                <a:ea typeface="Calibri"/>
                <a:cs typeface="Calibri"/>
                <a:sym typeface="Calibri"/>
              </a:rPr>
              <a:t>Japão confirma a decisão de isentar brasileiros de visto de turismo e negócios (até 90 dias).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389120" y="1965960"/>
            <a:ext cx="3611880" cy="3749040"/>
          </a:xfrm>
          <a:prstGeom prst="roundRect">
            <a:avLst>
              <a:gd fmla="val 2025" name="adj"/>
            </a:avLst>
          </a:prstGeom>
          <a:solidFill>
            <a:srgbClr val="6F4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4645152" y="2240280"/>
            <a:ext cx="30998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B4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C69B4E"/>
                </a:solidFill>
                <a:latin typeface="Cambria"/>
                <a:ea typeface="Cambria"/>
                <a:cs typeface="Cambria"/>
                <a:sym typeface="Cambria"/>
              </a:rPr>
              <a:t>30 Set/2023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645152" y="2880360"/>
            <a:ext cx="3099816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4ECD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4ECDD"/>
                </a:solidFill>
                <a:latin typeface="Calibri"/>
                <a:ea typeface="Calibri"/>
                <a:cs typeface="Calibri"/>
                <a:sym typeface="Calibri"/>
              </a:rPr>
              <a:t>Medida entra em vigor. Em reciprocidade, o Brasil deixa de exigir visto de cidadãos japoneses.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8138160" y="1965960"/>
            <a:ext cx="3611880" cy="3749040"/>
          </a:xfrm>
          <a:prstGeom prst="roundRect">
            <a:avLst>
              <a:gd fmla="val 2025" name="adj"/>
            </a:avLst>
          </a:prstGeom>
          <a:solidFill>
            <a:srgbClr val="C69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8394192" y="2240280"/>
            <a:ext cx="30998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3B2412"/>
                </a:solidFill>
                <a:latin typeface="Cambria"/>
                <a:ea typeface="Cambria"/>
                <a:cs typeface="Cambria"/>
                <a:sym typeface="Cambria"/>
              </a:rPr>
              <a:t>Efeito econômico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8394192" y="2880360"/>
            <a:ext cx="3099816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B2412"/>
                </a:solidFill>
                <a:latin typeface="Calibri"/>
                <a:ea typeface="Calibri"/>
                <a:cs typeface="Calibri"/>
                <a:sym typeface="Calibri"/>
              </a:rPr>
              <a:t>Redução de custos de transação: viagens de prospecção, missões comerciais e negociações presenciais ficam mais simples.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9A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49A80"/>
                </a:solidFill>
                <a:latin typeface="Calibri"/>
                <a:ea typeface="Calibri"/>
                <a:cs typeface="Calibri"/>
                <a:sym typeface="Calibri"/>
              </a:rPr>
              <a:t>Fonte: Ministério das Relações Exteriores do Japão (MOFA, set/2023).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8A78"/>
                </a:solidFill>
                <a:latin typeface="Calibri"/>
                <a:ea typeface="Calibri"/>
                <a:cs typeface="Calibri"/>
                <a:sym typeface="Calibri"/>
              </a:rPr>
              <a:t>8 / 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8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8A78"/>
                </a:solidFill>
                <a:latin typeface="Calibri"/>
                <a:ea typeface="Calibri"/>
                <a:cs typeface="Calibri"/>
                <a:sym typeface="Calibri"/>
              </a:rPr>
              <a:t>Chocolate: Cadeia do Cacau e Mercado Japonês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B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69B4E"/>
                </a:solidFill>
                <a:latin typeface="Calibri"/>
                <a:ea typeface="Calibri"/>
                <a:cs typeface="Calibri"/>
                <a:sym typeface="Calibri"/>
              </a:rPr>
              <a:t>05 · OPORTUNIDADES E DESAFIOS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B2412"/>
                </a:solidFill>
                <a:latin typeface="Cambria"/>
                <a:ea typeface="Cambria"/>
                <a:cs typeface="Cambria"/>
                <a:sym typeface="Cambria"/>
              </a:rPr>
              <a:t>O que pode levar o chocolate ao Japão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48640" y="1783080"/>
            <a:ext cx="5440680" cy="4206240"/>
          </a:xfrm>
          <a:prstGeom prst="roundRect">
            <a:avLst>
              <a:gd fmla="val 1739" name="adj"/>
            </a:avLst>
          </a:prstGeom>
          <a:solidFill>
            <a:srgbClr val="EAF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OPORTUNIDADES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868680" y="2514600"/>
            <a:ext cx="48463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Espaço para crescer — participação atual de apenas 0,19%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C5F2D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Menor custo de mobilidade após a isenção de vistos (2023)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C5F2D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Diferenciação por origem amazônica e sustentabilidade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199632" y="1783080"/>
            <a:ext cx="5440680" cy="4206240"/>
          </a:xfrm>
          <a:prstGeom prst="roundRect">
            <a:avLst>
              <a:gd fmla="val 1739" name="adj"/>
            </a:avLst>
          </a:prstGeom>
          <a:solidFill>
            <a:srgbClr val="F6E9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6519672" y="20116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3B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63B2A"/>
                </a:solidFill>
                <a:latin typeface="Calibri"/>
                <a:ea typeface="Calibri"/>
                <a:cs typeface="Calibri"/>
                <a:sym typeface="Calibri"/>
              </a:rPr>
              <a:t>DESAFIOS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6519672" y="2514600"/>
            <a:ext cx="48463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3B2A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A63B2A"/>
                </a:solidFill>
                <a:latin typeface="Calibri"/>
                <a:ea typeface="Calibri"/>
                <a:cs typeface="Calibri"/>
                <a:sym typeface="Calibri"/>
              </a:rPr>
              <a:t>Concorrência de marcas europeias já consolidadas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A63B2A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A63B2A"/>
                </a:solidFill>
                <a:latin typeface="Calibri"/>
                <a:ea typeface="Calibri"/>
                <a:cs typeface="Calibri"/>
                <a:sym typeface="Calibri"/>
              </a:rPr>
              <a:t>Exigências de certificação sanitária e de qualidade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A63B2A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A63B2A"/>
                </a:solidFill>
                <a:latin typeface="Calibri"/>
                <a:ea typeface="Calibri"/>
                <a:cs typeface="Calibri"/>
                <a:sym typeface="Calibri"/>
              </a:rPr>
              <a:t>Logística, distância e sensibilidade do produto ao transporte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8A78"/>
                </a:solidFill>
                <a:latin typeface="Calibri"/>
                <a:ea typeface="Calibri"/>
                <a:cs typeface="Calibri"/>
                <a:sym typeface="Calibri"/>
              </a:rPr>
              <a:t>9 / 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8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8A78"/>
                </a:solidFill>
                <a:latin typeface="Calibri"/>
                <a:ea typeface="Calibri"/>
                <a:cs typeface="Calibri"/>
                <a:sym typeface="Calibri"/>
              </a:rPr>
              <a:t>Chocolate: Cadeia do Cacau e Mercado Japonês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241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6F4518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B4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69B4E"/>
                </a:solidFill>
                <a:latin typeface="Calibri"/>
                <a:ea typeface="Calibri"/>
                <a:cs typeface="Calibri"/>
                <a:sym typeface="Calibri"/>
              </a:rPr>
              <a:t>CONSIDERAÇÕES FINAIS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777240" y="1828800"/>
            <a:ext cx="10332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Vantagem comparativa não é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vantagem competitiva garantida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822960" y="3657600"/>
            <a:ext cx="9601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ECDD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4ECDD"/>
                </a:solidFill>
                <a:latin typeface="Calibri"/>
                <a:ea typeface="Calibri"/>
                <a:cs typeface="Calibri"/>
                <a:sym typeface="Calibri"/>
              </a:rPr>
              <a:t>O Brasil produz cacau com vantagem comparativa, mas ainda exporta mais matéria-prima do que chocolate. O mercado japonês está praticamente inexplorado, e a isenção de vistos reduz uma barreira de mobilidade — mas captar esse mercado exige estratégia comercial, certificação e construção de marca.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8A78"/>
                </a:solidFill>
                <a:latin typeface="Calibri"/>
                <a:ea typeface="Calibri"/>
                <a:cs typeface="Calibri"/>
                <a:sym typeface="Calibri"/>
              </a:rPr>
              <a:t>10 / 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8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8A78"/>
                </a:solidFill>
                <a:latin typeface="Calibri"/>
                <a:ea typeface="Calibri"/>
                <a:cs typeface="Calibri"/>
                <a:sym typeface="Calibri"/>
              </a:rPr>
              <a:t>Chocolate: Cadeia do Cacau e Mercado Japonês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B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69B4E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241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B2412"/>
                </a:solidFill>
                <a:latin typeface="Cambria"/>
                <a:ea typeface="Cambria"/>
                <a:cs typeface="Cambria"/>
                <a:sym typeface="Cambria"/>
              </a:rPr>
              <a:t>Referências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2A1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2A1A"/>
                </a:solidFill>
                <a:latin typeface="Calibri"/>
                <a:ea typeface="Calibri"/>
                <a:cs typeface="Calibri"/>
                <a:sym typeface="Calibri"/>
              </a:rPr>
              <a:t>APEXBRASIL — Agência Brasileira de Promoção de Exportações e Investimentos. Estatísticas de exportação de cacau e chocolate. Brasília, 2023.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A2A1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2A1A"/>
                </a:solidFill>
                <a:latin typeface="Calibri"/>
                <a:ea typeface="Calibri"/>
                <a:cs typeface="Calibri"/>
                <a:sym typeface="Calibri"/>
              </a:rPr>
              <a:t>GROWTH LAB, Harvard Kennedy School. The Atlas of Economic Complexity. Cambridge: Harvard University, 2023.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A2A1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2A1A"/>
                </a:solidFill>
                <a:latin typeface="Calibri"/>
                <a:ea typeface="Calibri"/>
                <a:cs typeface="Calibri"/>
                <a:sym typeface="Calibri"/>
              </a:rPr>
              <a:t>JAPAN. Ministry of Foreign Affairs. Japan-Brazil Relations. Tóquio, 18 set. 2023.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A2A1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2A1A"/>
                </a:solidFill>
                <a:latin typeface="Calibri"/>
                <a:ea typeface="Calibri"/>
                <a:cs typeface="Calibri"/>
                <a:sym typeface="Calibri"/>
              </a:rPr>
              <a:t>KRUGMAN, P.; OBSTFELD, M.; MELITZ, M. International Economics: Theory and Policy. 10. ed. Boston: Pearson, 2015.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8A78"/>
                </a:solidFill>
                <a:latin typeface="Calibri"/>
                <a:ea typeface="Calibri"/>
                <a:cs typeface="Calibri"/>
                <a:sym typeface="Calibri"/>
              </a:rPr>
              <a:t>11 / 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8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8A78"/>
                </a:solidFill>
                <a:latin typeface="Calibri"/>
                <a:ea typeface="Calibri"/>
                <a:cs typeface="Calibri"/>
                <a:sym typeface="Calibri"/>
              </a:rPr>
              <a:t>Chocolate: Cadeia do Cacau e Mercado Japonês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2026-08-27T11:08:11Z</dcterms:created>
  <dc:creator>Trabalho de Introdução à Economia</dc:creator>
</cp:coreProperties>
</file>